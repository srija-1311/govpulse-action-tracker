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600">
                <a:latin typeface="Calibri"/>
              </a:rPr>
              <a:t>Actions by status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Actions</c:v>
                </c:pt>
              </c:strCache>
            </c:strRef>
          </c:tx>
          <c:spPr>
            <a:solidFill>
              <a:srgbClr val="1F5FBF"/>
            </a:solidFill>
          </c:spPr>
          <c:cat>
            <c:strRef>
              <c:f>Sheet1!$A$2:$A$5</c:f>
              <c:strCache>
                <c:ptCount val="4"/>
                <c:pt idx="0">
                  <c:v>Not Started</c:v>
                </c:pt>
                <c:pt idx="1">
                  <c:v>In Progress</c:v>
                </c:pt>
                <c:pt idx="2">
                  <c:v>Blocked</c:v>
                </c:pt>
                <c:pt idx="3">
                  <c:v>Completed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</c:v>
                </c:pt>
                <c:pt idx="1">
                  <c:v>10</c:v>
                </c:pt>
                <c:pt idx="2">
                  <c:v>2</c:v>
                </c:pt>
                <c:pt idx="3">
                  <c:v>5</c:v>
                </c:pt>
              </c:numCache>
            </c:numRef>
          </c:val>
        </c:ser>
        <c:dLbls>
          <c:txPr>
            <a:bodyPr/>
            <a:lstStyle/>
            <a:p>
              <a:pPr>
                <a:defRPr sz="14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600">
                <a:latin typeface="Calibri"/>
              </a:rPr>
              <a:t>Actions by function and RAG status</a:t>
            </a:r>
          </a:p>
        </c:rich>
      </c:tx>
      <c:layout/>
      <c:overlay val="0"/>
    </c:title>
    <c:autoTitleDeleted val="0"/>
    <c:plotArea>
      <c:barChart>
        <c:barDir val="bar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Done</c:v>
                </c:pt>
              </c:strCache>
            </c:strRef>
          </c:tx>
          <c:spPr>
            <a:solidFill>
              <a:srgbClr val="98A2B3"/>
            </a:solidFill>
          </c:spPr>
          <c:cat>
            <c:strRef>
              <c:f>Sheet1!$A$2:$A$8</c:f>
              <c:strCache>
                <c:ptCount val="7"/>
                <c:pt idx="0">
                  <c:v>Business</c:v>
                </c:pt>
                <c:pt idx="1">
                  <c:v>Compliance</c:v>
                </c:pt>
                <c:pt idx="2">
                  <c:v>Finance</c:v>
                </c:pt>
                <c:pt idx="3">
                  <c:v>Infrastructure</c:v>
                </c:pt>
                <c:pt idx="4">
                  <c:v>Operations</c:v>
                </c:pt>
                <c:pt idx="5">
                  <c:v>Risk</c:v>
                </c:pt>
                <c:pt idx="6">
                  <c:v>Technology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</c:v>
                </c:pt>
                <c:pt idx="1">
                  <c:v>2</c:v>
                </c:pt>
                <c:pt idx="2">
                  <c:v>2</c:v>
                </c:pt>
                <c:pt idx="3">
                  <c:v>0</c:v>
                </c:pt>
                <c:pt idx="4">
                  <c:v>1</c:v>
                </c:pt>
                <c:pt idx="5">
                  <c:v>0</c:v>
                </c:pt>
                <c:pt idx="6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On track</c:v>
                </c:pt>
              </c:strCache>
            </c:strRef>
          </c:tx>
          <c:spPr>
            <a:solidFill>
              <a:srgbClr val="2E8B57"/>
            </a:solidFill>
          </c:spPr>
          <c:cat>
            <c:strRef>
              <c:f>Sheet1!$A$2:$A$8</c:f>
              <c:strCache>
                <c:ptCount val="7"/>
                <c:pt idx="0">
                  <c:v>Business</c:v>
                </c:pt>
                <c:pt idx="1">
                  <c:v>Compliance</c:v>
                </c:pt>
                <c:pt idx="2">
                  <c:v>Finance</c:v>
                </c:pt>
                <c:pt idx="3">
                  <c:v>Infrastructure</c:v>
                </c:pt>
                <c:pt idx="4">
                  <c:v>Operations</c:v>
                </c:pt>
                <c:pt idx="5">
                  <c:v>Risk</c:v>
                </c:pt>
                <c:pt idx="6">
                  <c:v>Technology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4</c:v>
                </c:pt>
                <c:pt idx="1">
                  <c:v>0</c:v>
                </c:pt>
                <c:pt idx="2">
                  <c:v>1</c:v>
                </c:pt>
                <c:pt idx="3">
                  <c:v>0</c:v>
                </c:pt>
                <c:pt idx="4">
                  <c:v>2</c:v>
                </c:pt>
                <c:pt idx="5">
                  <c:v>2</c:v>
                </c:pt>
                <c:pt idx="6">
                  <c:v>5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Amber</c:v>
                </c:pt>
              </c:strCache>
            </c:strRef>
          </c:tx>
          <c:spPr>
            <a:solidFill>
              <a:srgbClr val="E0A100"/>
            </a:solidFill>
          </c:spPr>
          <c:cat>
            <c:strRef>
              <c:f>Sheet1!$A$2:$A$8</c:f>
              <c:strCache>
                <c:ptCount val="7"/>
                <c:pt idx="0">
                  <c:v>Business</c:v>
                </c:pt>
                <c:pt idx="1">
                  <c:v>Compliance</c:v>
                </c:pt>
                <c:pt idx="2">
                  <c:v>Finance</c:v>
                </c:pt>
                <c:pt idx="3">
                  <c:v>Infrastructure</c:v>
                </c:pt>
                <c:pt idx="4">
                  <c:v>Operations</c:v>
                </c:pt>
                <c:pt idx="5">
                  <c:v>Risk</c:v>
                </c:pt>
                <c:pt idx="6">
                  <c:v>Technology</c:v>
                </c:pt>
              </c:strCache>
            </c: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0</c:v>
                </c:pt>
                <c:pt idx="1">
                  <c:v>1</c:v>
                </c:pt>
                <c:pt idx="2">
                  <c:v>0</c:v>
                </c:pt>
                <c:pt idx="3">
                  <c:v>1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Red</c:v>
                </c:pt>
              </c:strCache>
            </c:strRef>
          </c:tx>
          <c:spPr>
            <a:solidFill>
              <a:srgbClr val="C0392B"/>
            </a:solidFill>
          </c:spPr>
          <c:cat>
            <c:strRef>
              <c:f>Sheet1!$A$2:$A$8</c:f>
              <c:strCache>
                <c:ptCount val="7"/>
                <c:pt idx="0">
                  <c:v>Business</c:v>
                </c:pt>
                <c:pt idx="1">
                  <c:v>Compliance</c:v>
                </c:pt>
                <c:pt idx="2">
                  <c:v>Finance</c:v>
                </c:pt>
                <c:pt idx="3">
                  <c:v>Infrastructure</c:v>
                </c:pt>
                <c:pt idx="4">
                  <c:v>Operations</c:v>
                </c:pt>
                <c:pt idx="5">
                  <c:v>Risk</c:v>
                </c:pt>
                <c:pt idx="6">
                  <c:v>Technology</c:v>
                </c:pt>
              </c:strCache>
            </c:strRef>
          </c:cat>
          <c:val>
            <c:numRef>
              <c:f>Sheet1!$E$2:$E$8</c:f>
              <c:numCache>
                <c:formatCode>General</c:formatCode>
                <c:ptCount val="7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</c:numCache>
            </c:numRef>
          </c:val>
        </c:ser>
        <c:dLbls>
          <c:numFmt formatCode="0;;" sourceLinked="0"/>
          <c:txPr>
            <a:bodyPr/>
            <a:lstStyle/>
            <a:p>
              <a:pPr>
                <a:defRPr sz="1200">
                  <a:solidFill>
                    <a:srgbClr val="FFFFFF"/>
                  </a:solidFill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0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2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286000"/>
            <a:ext cx="10515600" cy="109728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Weekly Action Tracker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56616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C9D6EE"/>
                </a:solidFill>
                <a:latin typeface="Calibri"/>
              </a:rPr>
              <a:t>Strategic initiatives and governance actions  |  Week ending 09 Sep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>
                <a:solidFill>
                  <a:srgbClr val="0B2545"/>
                </a:solidFill>
                <a:latin typeface="Calibri"/>
              </a:rPr>
              <a:t>24% of actions are complete; 0 are overdue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67085"/>
                </a:solidFill>
                <a:latin typeface="Calibri"/>
              </a:rPr>
              <a:t>Source: Action Tracker, as of 09 Sep 2026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54480"/>
            <a:ext cx="2057400" cy="1554480"/>
          </a:xfrm>
          <a:prstGeom prst="roundRect">
            <a:avLst>
              <a:gd name="adj" fmla="val 8000"/>
            </a:avLst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91640"/>
            <a:ext cx="205740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400" b="1">
                <a:solidFill>
                  <a:srgbClr val="0B2545"/>
                </a:solidFill>
                <a:latin typeface="Calibri"/>
              </a:rPr>
              <a:t>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560320"/>
            <a:ext cx="2057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667085"/>
                </a:solidFill>
                <a:latin typeface="Calibri"/>
              </a:rPr>
              <a:t>Total actions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88920" y="1554480"/>
            <a:ext cx="2057400" cy="1554480"/>
          </a:xfrm>
          <a:prstGeom prst="roundRect">
            <a:avLst>
              <a:gd name="adj" fmla="val 8000"/>
            </a:avLst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88920" y="1691640"/>
            <a:ext cx="205740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400" b="1">
                <a:solidFill>
                  <a:srgbClr val="2E8B57"/>
                </a:solidFill>
                <a:latin typeface="Calibri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88920" y="2560320"/>
            <a:ext cx="2057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667085"/>
                </a:solidFill>
                <a:latin typeface="Calibri"/>
              </a:rPr>
              <a:t>Completed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0" y="1554480"/>
            <a:ext cx="2057400" cy="1554480"/>
          </a:xfrm>
          <a:prstGeom prst="roundRect">
            <a:avLst>
              <a:gd name="adj" fmla="val 8000"/>
            </a:avLst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0" y="1691640"/>
            <a:ext cx="205740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400" b="1">
                <a:solidFill>
                  <a:srgbClr val="1F5FBF"/>
                </a:solidFill>
                <a:latin typeface="Calibri"/>
              </a:rPr>
              <a:t>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2560320"/>
            <a:ext cx="2057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667085"/>
                </a:solidFill>
                <a:latin typeface="Calibri"/>
              </a:rPr>
              <a:t>In progress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69480" y="1554480"/>
            <a:ext cx="2057400" cy="1554480"/>
          </a:xfrm>
          <a:prstGeom prst="roundRect">
            <a:avLst>
              <a:gd name="adj" fmla="val 8000"/>
            </a:avLst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69480" y="1691640"/>
            <a:ext cx="205740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400" b="1">
                <a:solidFill>
                  <a:srgbClr val="E0A100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69480" y="2560320"/>
            <a:ext cx="2057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667085"/>
                </a:solidFill>
                <a:latin typeface="Calibri"/>
              </a:rPr>
              <a:t>Blocked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509760" y="1554480"/>
            <a:ext cx="2057400" cy="1554480"/>
          </a:xfrm>
          <a:prstGeom prst="roundRect">
            <a:avLst>
              <a:gd name="adj" fmla="val 8000"/>
            </a:avLst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09760" y="1691640"/>
            <a:ext cx="205740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400" b="1">
                <a:solidFill>
                  <a:srgbClr val="C0392B"/>
                </a:solidFill>
                <a:latin typeface="Calibri"/>
              </a:rPr>
              <a:t>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09760" y="2560320"/>
            <a:ext cx="2057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667085"/>
                </a:solidFill>
                <a:latin typeface="Calibri"/>
              </a:rPr>
              <a:t>Overdue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3886200"/>
            <a:ext cx="110642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>
                <a:solidFill>
                  <a:srgbClr val="1D2939"/>
                </a:solidFill>
                <a:latin typeface="Calibri"/>
              </a:rPr>
              <a:t>•  2 action(s) are blocked and need escalation or a management decision.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1D2939"/>
                </a:solidFill>
                <a:latin typeface="Calibri"/>
              </a:rPr>
              <a:t>•  0 action(s) fall due in the next 7 days.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1D2939"/>
                </a:solidFill>
                <a:latin typeface="Calibri"/>
              </a:rPr>
              <a:t>•  Open actions are on average 40% complete.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342900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0B2545"/>
                </a:solidFill>
                <a:latin typeface="Calibri"/>
              </a:rPr>
              <a:t>Key messages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>
                <a:solidFill>
                  <a:srgbClr val="0B2545"/>
                </a:solidFill>
                <a:latin typeface="Calibri"/>
              </a:rPr>
              <a:t>Progress by status and by function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67085"/>
                </a:solidFill>
                <a:latin typeface="Calibri"/>
              </a:rPr>
              <a:t>Source: Action Tracker, as of 09 Sep 2026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48640" y="1463040"/>
          <a:ext cx="4754880" cy="4754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669280" y="1463040"/>
          <a:ext cx="5943600" cy="47548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>
                <a:solidFill>
                  <a:srgbClr val="0B2545"/>
                </a:solidFill>
                <a:latin typeface="Calibri"/>
              </a:rPr>
              <a:t>0 overdue and 2 blocked actions need attention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67085"/>
                </a:solidFill>
                <a:latin typeface="Calibri"/>
              </a:rPr>
              <a:t>Source: Action Tracker, as of 09 Sep 2026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463040"/>
          <a:ext cx="11064240" cy="12618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3566160"/>
                <a:gridCol w="1554480"/>
                <a:gridCol w="1371600"/>
                <a:gridCol w="914400"/>
                <a:gridCol w="822960"/>
                <a:gridCol w="2011680"/>
              </a:tblGrid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ID</a:t>
                      </a:r>
                    </a:p>
                  </a:txBody>
                  <a:tcPr marL="73152" marR="73152" marT="27432" marB="27432" anchor="ctr">
                    <a:solidFill>
                      <a:srgbClr val="0B25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Action Item</a:t>
                      </a:r>
                    </a:p>
                  </a:txBody>
                  <a:tcPr marL="73152" marR="73152" marT="27432" marB="27432" anchor="ctr">
                    <a:solidFill>
                      <a:srgbClr val="0B25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Owner</a:t>
                      </a:r>
                    </a:p>
                  </a:txBody>
                  <a:tcPr marL="73152" marR="73152" marT="27432" marB="27432" anchor="ctr">
                    <a:solidFill>
                      <a:srgbClr val="0B25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Function</a:t>
                      </a:r>
                    </a:p>
                  </a:txBody>
                  <a:tcPr marL="73152" marR="73152" marT="27432" marB="27432" anchor="ctr">
                    <a:solidFill>
                      <a:srgbClr val="0B25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Priority</a:t>
                      </a:r>
                    </a:p>
                  </a:txBody>
                  <a:tcPr marL="73152" marR="73152" marT="27432" marB="27432" anchor="ctr">
                    <a:solidFill>
                      <a:srgbClr val="0B25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Due</a:t>
                      </a:r>
                    </a:p>
                  </a:txBody>
                  <a:tcPr marL="73152" marR="73152" marT="27432" marB="27432" anchor="ctr">
                    <a:solidFill>
                      <a:srgbClr val="0B25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Issue</a:t>
                      </a:r>
                    </a:p>
                  </a:txBody>
                  <a:tcPr marL="73152" marR="73152" marT="27432" marB="27432" anchor="ctr">
                    <a:solidFill>
                      <a:srgbClr val="0B2545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D2939"/>
                          </a:solidFill>
                          <a:latin typeface="Calibri"/>
                        </a:rPr>
                        <a:t>A-003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D2939"/>
                          </a:solidFill>
                          <a:latin typeface="Calibri"/>
                        </a:rPr>
                        <a:t>Compliance review of digital consent flow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D2939"/>
                          </a:solidFill>
                          <a:latin typeface="Calibri"/>
                        </a:rPr>
                        <a:t>Rohan Das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D2939"/>
                          </a:solidFill>
                          <a:latin typeface="Calibri"/>
                        </a:rPr>
                        <a:t>Compliance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D2939"/>
                          </a:solidFill>
                          <a:latin typeface="Calibri"/>
                        </a:rPr>
                        <a:t>High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D2939"/>
                          </a:solidFill>
                          <a:latin typeface="Calibri"/>
                        </a:rPr>
                        <a:t>25 Sep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E0A100"/>
                          </a:solidFill>
                          <a:latin typeface="Calibri"/>
                        </a:rPr>
                        <a:t>Blocked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D2939"/>
                          </a:solidFill>
                          <a:latin typeface="Calibri"/>
                        </a:rPr>
                        <a:t>A-011</a:t>
                      </a:r>
                    </a:p>
                  </a:txBody>
                  <a:tcPr marL="73152" marR="73152" marT="27432" marB="27432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D2939"/>
                          </a:solidFill>
                          <a:latin typeface="Calibri"/>
                        </a:rPr>
                        <a:t>Security assessment of shortlisted vendors</a:t>
                      </a:r>
                    </a:p>
                  </a:txBody>
                  <a:tcPr marL="73152" marR="73152" marT="27432" marB="27432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D2939"/>
                          </a:solidFill>
                          <a:latin typeface="Calibri"/>
                        </a:rPr>
                        <a:t>Ishaan Verma</a:t>
                      </a:r>
                    </a:p>
                  </a:txBody>
                  <a:tcPr marL="73152" marR="73152" marT="27432" marB="27432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D2939"/>
                          </a:solidFill>
                          <a:latin typeface="Calibri"/>
                        </a:rPr>
                        <a:t>Infrastructure</a:t>
                      </a:r>
                    </a:p>
                  </a:txBody>
                  <a:tcPr marL="73152" marR="73152" marT="27432" marB="27432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D2939"/>
                          </a:solidFill>
                          <a:latin typeface="Calibri"/>
                        </a:rPr>
                        <a:t>High</a:t>
                      </a:r>
                    </a:p>
                  </a:txBody>
                  <a:tcPr marL="73152" marR="73152" marT="27432" marB="27432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D2939"/>
                          </a:solidFill>
                          <a:latin typeface="Calibri"/>
                        </a:rPr>
                        <a:t>06 Oct</a:t>
                      </a:r>
                    </a:p>
                  </a:txBody>
                  <a:tcPr marL="73152" marR="73152" marT="27432" marB="27432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E0A100"/>
                          </a:solidFill>
                          <a:latin typeface="Calibri"/>
                        </a:rPr>
                        <a:t>Blocked</a:t>
                      </a:r>
                    </a:p>
                  </a:txBody>
                  <a:tcPr marL="73152" marR="73152" marT="27432" marB="27432" anchor="ctr">
                    <a:solidFill>
                      <a:srgbClr val="F2F5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>
                <a:solidFill>
                  <a:srgbClr val="0B2545"/>
                </a:solidFill>
                <a:latin typeface="Calibri"/>
              </a:rPr>
              <a:t>0 actions fall due in the next 7 days: follow-ups required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67085"/>
                </a:solidFill>
                <a:latin typeface="Calibri"/>
              </a:rPr>
              <a:t>Source: Action Tracker, as of 09 Sep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1D2939"/>
                </a:solidFill>
                <a:latin typeface="Calibri"/>
              </a:rPr>
              <a:t>Nothing due in the next 7 days.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